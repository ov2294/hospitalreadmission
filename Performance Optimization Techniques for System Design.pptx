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3750070-81AD-4E7A-B3E0-86E32AF40CCE}" type="datetimeFigureOut">
              <a:rPr lang="en-IN" smtClean="0"/>
              <a:t>25-09-2026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308847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750070-81AD-4E7A-B3E0-86E32AF40CCE}" type="datetimeFigureOut">
              <a:rPr lang="en-IN" smtClean="0"/>
              <a:t>25-09-2026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3970189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3750070-81AD-4E7A-B3E0-86E32AF40CCE}" type="datetimeFigureOut">
              <a:rPr lang="en-IN" smtClean="0"/>
              <a:t>25-09-2026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364455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021482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750070-81AD-4E7A-B3E0-86E32AF40CCE}" type="datetimeFigureOut">
              <a:rPr lang="en-IN" smtClean="0"/>
              <a:t>25-09-2026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2751803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750070-81AD-4E7A-B3E0-86E32AF40CCE}" type="datetimeFigureOut">
              <a:rPr lang="en-IN" smtClean="0"/>
              <a:t>25-09-2026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2181699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750070-81AD-4E7A-B3E0-86E32AF40CCE}" type="datetimeFigureOut">
              <a:rPr lang="en-IN" smtClean="0"/>
              <a:t>25-09-2026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834586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3543303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427191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204640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3943768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77528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750070-81AD-4E7A-B3E0-86E32AF40CCE}" type="datetimeFigureOut">
              <a:rPr lang="en-IN" smtClean="0"/>
              <a:t>25-09-2026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3867733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93750070-81AD-4E7A-B3E0-86E32AF40CCE}" type="datetimeFigureOut">
              <a:rPr lang="en-IN" smtClean="0"/>
              <a:t>25-09-2026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804292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93750070-81AD-4E7A-B3E0-86E32AF40CCE}" type="datetimeFigureOut">
              <a:rPr lang="en-IN" smtClean="0"/>
              <a:t>25-09-2026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696343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750070-81AD-4E7A-B3E0-86E32AF40CCE}" type="datetimeFigureOut">
              <a:rPr lang="en-IN" smtClean="0"/>
              <a:t>25-09-2026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845574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750070-81AD-4E7A-B3E0-86E32AF40CCE}" type="datetimeFigureOut">
              <a:rPr lang="en-IN" smtClean="0"/>
              <a:t>25-09-2026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FD240-59F2-42AA-9071-0C52D067CD4D}" type="slidenum">
              <a:rPr lang="en-IN" smtClean="0"/>
              <a:t>‹#›</a:t>
            </a:fld>
            <a:endParaRPr lang="en-IN"/>
          </a:p>
        </p:txBody>
      </p:sp>
    </p:spTree>
    <p:extLst>
      <p:ext uri="{BB962C8B-B14F-4D97-AF65-F5344CB8AC3E}">
        <p14:creationId xmlns:p14="http://schemas.microsoft.com/office/powerpoint/2010/main" val="1422842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3750070-81AD-4E7A-B3E0-86E32AF40CCE}" type="datetimeFigureOut">
              <a:rPr lang="en-IN" smtClean="0"/>
              <a:t>25-09-2026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03FD240-59F2-42AA-9071-0C52D067CD4D}" type="slidenum">
              <a:rPr lang="en-IN" smtClean="0"/>
              <a:t>‹#›</a:t>
            </a:fld>
            <a:endParaRPr lang="en-IN"/>
          </a:p>
        </p:txBody>
      </p:sp>
    </p:spTree>
    <p:extLst>
      <p:ext uri="{BB962C8B-B14F-4D97-AF65-F5344CB8AC3E}">
        <p14:creationId xmlns:p14="http://schemas.microsoft.com/office/powerpoint/2010/main" val="3521303357"/>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medium.com/analytics-vidhya/apache-spark-memory-management-49682ded3d42"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medium.com/analytics-vidhya/apache-spark-memory-management-49682ded3d42"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b="1" dirty="0"/>
              <a:t>Performance Optimization Techniques for System </a:t>
            </a:r>
            <a:r>
              <a:rPr lang="en-IN" b="1" dirty="0" smtClean="0"/>
              <a:t>Design</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963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Performance Optimization</a:t>
            </a:r>
            <a:endParaRPr lang="en-IN" dirty="0"/>
          </a:p>
        </p:txBody>
      </p:sp>
      <p:sp>
        <p:nvSpPr>
          <p:cNvPr id="3" name="Content Placeholder 2"/>
          <p:cNvSpPr>
            <a:spLocks noGrp="1"/>
          </p:cNvSpPr>
          <p:nvPr>
            <p:ph idx="1"/>
          </p:nvPr>
        </p:nvSpPr>
        <p:spPr/>
        <p:txBody>
          <a:bodyPr/>
          <a:lstStyle/>
          <a:p>
            <a:pPr algn="just"/>
            <a:r>
              <a:rPr lang="en-US" dirty="0"/>
              <a:t>Designing systems that are efficient, scalable, and high-performing is crucial in modern applications</a:t>
            </a:r>
            <a:r>
              <a:rPr lang="en-US" dirty="0" smtClean="0"/>
              <a:t>.</a:t>
            </a:r>
          </a:p>
          <a:p>
            <a:pPr algn="just"/>
            <a:r>
              <a:rPr lang="en-US" dirty="0" smtClean="0"/>
              <a:t>As </a:t>
            </a:r>
            <a:r>
              <a:rPr lang="en-US" dirty="0"/>
              <a:t>systems handle more users and data, optimization becomes important to </a:t>
            </a:r>
            <a:r>
              <a:rPr lang="en-US" dirty="0" smtClean="0"/>
              <a:t>maintain </a:t>
            </a:r>
            <a:r>
              <a:rPr lang="en-US" dirty="0"/>
              <a:t>speed, reliability, and smooth user experience</a:t>
            </a:r>
            <a:r>
              <a:rPr lang="en-US" dirty="0" smtClean="0"/>
              <a:t>.</a:t>
            </a:r>
          </a:p>
          <a:p>
            <a:pPr algn="just" fontAlgn="base"/>
            <a:r>
              <a:rPr lang="en-US" dirty="0"/>
              <a:t>Improves system performance and reduces response time by distributing workloads efficiently.</a:t>
            </a:r>
          </a:p>
          <a:p>
            <a:pPr algn="just" fontAlgn="base"/>
            <a:r>
              <a:rPr lang="en-US" dirty="0"/>
              <a:t>Ensures scalability and better resource utilization while handling increasing users and data.</a:t>
            </a:r>
          </a:p>
          <a:p>
            <a:endParaRPr lang="en-IN" dirty="0"/>
          </a:p>
        </p:txBody>
      </p:sp>
    </p:spTree>
    <p:extLst>
      <p:ext uri="{BB962C8B-B14F-4D97-AF65-F5344CB8AC3E}">
        <p14:creationId xmlns:p14="http://schemas.microsoft.com/office/powerpoint/2010/main" val="102049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Content Placeholder 2"/>
          <p:cNvSpPr>
            <a:spLocks noGrp="1"/>
          </p:cNvSpPr>
          <p:nvPr>
            <p:ph idx="1"/>
          </p:nvPr>
        </p:nvSpPr>
        <p:spPr/>
        <p:txBody>
          <a:bodyPr/>
          <a:lstStyle/>
          <a:p>
            <a:pPr marL="0" indent="0" algn="just">
              <a:buNone/>
            </a:pPr>
            <a:r>
              <a:rPr lang="en-US" i="1" dirty="0" smtClean="0"/>
              <a:t>In </a:t>
            </a:r>
            <a:r>
              <a:rPr lang="en-US" i="1" dirty="0"/>
              <a:t>an e-commerce website, optimizing database queries and using caching helps load product pages faster, even during high traffic like a sale.</a:t>
            </a:r>
            <a:endParaRPr lang="en-IN" dirty="0"/>
          </a:p>
        </p:txBody>
      </p:sp>
    </p:spTree>
    <p:extLst>
      <p:ext uri="{BB962C8B-B14F-4D97-AF65-F5344CB8AC3E}">
        <p14:creationId xmlns:p14="http://schemas.microsoft.com/office/powerpoint/2010/main" val="22721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Performance Optimization Techniques for System Design</a:t>
            </a:r>
            <a:endParaRPr lang="en-IN" dirty="0"/>
          </a:p>
        </p:txBody>
      </p:sp>
      <p:sp>
        <p:nvSpPr>
          <p:cNvPr id="3" name="Content Placeholder 2"/>
          <p:cNvSpPr>
            <a:spLocks noGrp="1"/>
          </p:cNvSpPr>
          <p:nvPr>
            <p:ph idx="1"/>
          </p:nvPr>
        </p:nvSpPr>
        <p:spPr/>
        <p:txBody>
          <a:bodyPr/>
          <a:lstStyle/>
          <a:p>
            <a:r>
              <a:rPr lang="en-IN" b="1" dirty="0"/>
              <a:t>Data Structures &amp; Algorithms</a:t>
            </a:r>
          </a:p>
          <a:p>
            <a:r>
              <a:rPr lang="en-IN" b="1" dirty="0"/>
              <a:t>Caching</a:t>
            </a:r>
          </a:p>
          <a:p>
            <a:r>
              <a:rPr lang="en-IN" b="1" dirty="0"/>
              <a:t>Database Optimizations</a:t>
            </a:r>
          </a:p>
          <a:p>
            <a:r>
              <a:rPr lang="en-IN" b="1" dirty="0"/>
              <a:t>Scalability &amp; Load Balancing</a:t>
            </a:r>
          </a:p>
          <a:p>
            <a:r>
              <a:rPr lang="en-IN" b="1" dirty="0" err="1"/>
              <a:t>Microservices</a:t>
            </a:r>
            <a:r>
              <a:rPr lang="en-IN" b="1" dirty="0"/>
              <a:t> &amp; Architectural Patterns</a:t>
            </a:r>
          </a:p>
          <a:p>
            <a:r>
              <a:rPr lang="en-IN" b="1" dirty="0"/>
              <a:t>Network Optimization</a:t>
            </a:r>
          </a:p>
          <a:p>
            <a:endParaRPr lang="en-US" dirty="0" smtClean="0"/>
          </a:p>
          <a:p>
            <a:endParaRPr lang="en-IN" dirty="0"/>
          </a:p>
        </p:txBody>
      </p:sp>
    </p:spTree>
    <p:extLst>
      <p:ext uri="{BB962C8B-B14F-4D97-AF65-F5344CB8AC3E}">
        <p14:creationId xmlns:p14="http://schemas.microsoft.com/office/powerpoint/2010/main" val="3200678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
            </a:r>
            <a:r>
              <a:rPr lang="en-IN" dirty="0" smtClean="0"/>
              <a:t>artitioning strategies in spark</a:t>
            </a:r>
            <a:endParaRPr lang="en-IN" dirty="0"/>
          </a:p>
        </p:txBody>
      </p:sp>
      <p:sp>
        <p:nvSpPr>
          <p:cNvPr id="3" name="Content Placeholder 2"/>
          <p:cNvSpPr>
            <a:spLocks noGrp="1"/>
          </p:cNvSpPr>
          <p:nvPr>
            <p:ph idx="1"/>
          </p:nvPr>
        </p:nvSpPr>
        <p:spPr/>
        <p:txBody>
          <a:bodyPr/>
          <a:lstStyle/>
          <a:p>
            <a:pPr algn="just"/>
            <a:r>
              <a:rPr lang="en-US" dirty="0" smtClean="0"/>
              <a:t>Control </a:t>
            </a:r>
            <a:r>
              <a:rPr lang="en-US" dirty="0"/>
              <a:t>how data is divided across cluster nodes to maximize parallelism, minimize network shuffling, and optimize memory usage. </a:t>
            </a:r>
            <a:endParaRPr lang="en-IN" dirty="0"/>
          </a:p>
        </p:txBody>
      </p:sp>
    </p:spTree>
    <p:extLst>
      <p:ext uri="{BB962C8B-B14F-4D97-AF65-F5344CB8AC3E}">
        <p14:creationId xmlns:p14="http://schemas.microsoft.com/office/powerpoint/2010/main" val="4097387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Core Memory Partitioning Strategies</a:t>
            </a:r>
            <a:endParaRPr lang="en-IN" dirty="0"/>
          </a:p>
        </p:txBody>
      </p:sp>
      <p:sp>
        <p:nvSpPr>
          <p:cNvPr id="3" name="Content Placeholder 2"/>
          <p:cNvSpPr>
            <a:spLocks noGrp="1"/>
          </p:cNvSpPr>
          <p:nvPr>
            <p:ph idx="1"/>
          </p:nvPr>
        </p:nvSpPr>
        <p:spPr/>
        <p:txBody>
          <a:bodyPr/>
          <a:lstStyle/>
          <a:p>
            <a:r>
              <a:rPr lang="en-IN" b="1" dirty="0"/>
              <a:t>Hash Partitioning (Default):</a:t>
            </a:r>
            <a:r>
              <a:rPr lang="en-IN" dirty="0" smtClean="0"/>
              <a:t> </a:t>
            </a:r>
            <a:r>
              <a:rPr lang="en-US" dirty="0" smtClean="0"/>
              <a:t>Applies </a:t>
            </a:r>
            <a:r>
              <a:rPr lang="en-US" dirty="0"/>
              <a:t>a hash function to record keys to distribute rows across partitions. Works well when keys are uniformly distributed, but can cause severe data skew if certain keys appear much more often than others.</a:t>
            </a:r>
            <a:r>
              <a:rPr lang="en-US" dirty="0" smtClean="0"/>
              <a:t> </a:t>
            </a:r>
          </a:p>
          <a:p>
            <a:r>
              <a:rPr lang="en-US" b="1" dirty="0"/>
              <a:t>Range Partitioning:</a:t>
            </a:r>
            <a:r>
              <a:rPr lang="en-US" dirty="0" smtClean="0"/>
              <a:t> Sorts data by a range of keys so that items with similar values land in the same partition. Useful for maintaining ordered data and optimizing range-based queries or sorting operations.</a:t>
            </a:r>
            <a:endParaRPr lang="en-IN" dirty="0"/>
          </a:p>
        </p:txBody>
      </p:sp>
    </p:spTree>
    <p:extLst>
      <p:ext uri="{BB962C8B-B14F-4D97-AF65-F5344CB8AC3E}">
        <p14:creationId xmlns:p14="http://schemas.microsoft.com/office/powerpoint/2010/main" val="23869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In-Memory Transformation Methods</a:t>
            </a:r>
            <a:endParaRPr lang="en-IN" dirty="0"/>
          </a:p>
        </p:txBody>
      </p:sp>
      <p:sp>
        <p:nvSpPr>
          <p:cNvPr id="5" name="Rectangle 2"/>
          <p:cNvSpPr>
            <a:spLocks noGrp="1" noChangeArrowheads="1"/>
          </p:cNvSpPr>
          <p:nvPr>
            <p:ph idx="1"/>
          </p:nvPr>
        </p:nvSpPr>
        <p:spPr bwMode="auto">
          <a:xfrm>
            <a:off x="838200" y="2129532"/>
            <a:ext cx="9956800"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R="0" lvl="0" fontAlgn="base">
              <a:spcAft>
                <a:spcPct val="0"/>
              </a:spcAft>
              <a:buClrTx/>
              <a:buSzTx/>
              <a:tabLst/>
            </a:pPr>
            <a:r>
              <a:rPr lang="en-US" altLang="en-US" b="1" dirty="0"/>
              <a:t>repartition(n): </a:t>
            </a:r>
            <a:r>
              <a:rPr lang="en-US" altLang="en-US" dirty="0"/>
              <a:t>Forces a full shuffle across the network to redistribute data equally into n partitions. Use this to increase partition count or fix heavy data skew, though it is resource-intensive. </a:t>
            </a:r>
            <a:endParaRPr lang="en-US" altLang="en-US" dirty="0" smtClean="0"/>
          </a:p>
          <a:p>
            <a:pPr fontAlgn="base">
              <a:spcAft>
                <a:spcPct val="0"/>
              </a:spcAft>
            </a:pPr>
            <a:r>
              <a:rPr lang="en-US" altLang="en-US" b="1" dirty="0"/>
              <a:t>coalesce(n): </a:t>
            </a:r>
            <a:r>
              <a:rPr lang="en-US" altLang="en-US" dirty="0"/>
              <a:t>Reduces the partition count down to </a:t>
            </a:r>
            <a:r>
              <a:rPr lang="en-US" altLang="en-US" dirty="0" smtClean="0"/>
              <a:t>without </a:t>
            </a:r>
            <a:r>
              <a:rPr lang="en-US" altLang="en-US" dirty="0"/>
              <a:t>a full network shuffle. It combines existing local partitions, making it faster for reducing sizes, but it can result in uneven partition sizes. </a:t>
            </a:r>
            <a:endParaRPr lang="en-US" altLang="en-US" dirty="0" smtClean="0"/>
          </a:p>
          <a:p>
            <a:pPr marR="0" lvl="0" fontAlgn="base">
              <a:spcAft>
                <a:spcPct val="0"/>
              </a:spcAft>
              <a:buClrTx/>
              <a:buSzTx/>
              <a:tabLst/>
            </a:pPr>
            <a:endParaRPr lang="en-US" altLang="en-US" b="1" dirty="0"/>
          </a:p>
        </p:txBody>
      </p:sp>
    </p:spTree>
    <p:extLst>
      <p:ext uri="{BB962C8B-B14F-4D97-AF65-F5344CB8AC3E}">
        <p14:creationId xmlns:p14="http://schemas.microsoft.com/office/powerpoint/2010/main" val="4232737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Caching and </a:t>
            </a:r>
            <a:r>
              <a:rPr lang="en-US" dirty="0" smtClean="0"/>
              <a:t>Persistence </a:t>
            </a:r>
            <a:r>
              <a:rPr lang="en-US" dirty="0"/>
              <a:t>in spark</a:t>
            </a:r>
            <a:endParaRPr lang="en-IN" dirty="0"/>
          </a:p>
        </p:txBody>
      </p:sp>
      <p:sp>
        <p:nvSpPr>
          <p:cNvPr id="3" name="Content Placeholder 2"/>
          <p:cNvSpPr>
            <a:spLocks noGrp="1"/>
          </p:cNvSpPr>
          <p:nvPr>
            <p:ph idx="1"/>
          </p:nvPr>
        </p:nvSpPr>
        <p:spPr/>
        <p:txBody>
          <a:bodyPr/>
          <a:lstStyle/>
          <a:p>
            <a:r>
              <a:rPr lang="en-US" b="1" dirty="0" smtClean="0">
                <a:effectLst/>
              </a:rPr>
              <a:t>Caching </a:t>
            </a:r>
            <a:r>
              <a:rPr lang="en-US" b="1" dirty="0">
                <a:effectLst/>
              </a:rPr>
              <a:t>and persistence</a:t>
            </a:r>
            <a:r>
              <a:rPr lang="en-US" dirty="0"/>
              <a:t> are critical optimization techniques used to store intermediate </a:t>
            </a:r>
            <a:r>
              <a:rPr lang="en-US" dirty="0" err="1"/>
              <a:t>DataFrames</a:t>
            </a:r>
            <a:r>
              <a:rPr lang="en-US" dirty="0"/>
              <a:t>, Datasets, or RDDs in memory or on disk</a:t>
            </a:r>
            <a:r>
              <a:rPr lang="en-US" dirty="0" smtClean="0"/>
              <a:t>.</a:t>
            </a:r>
          </a:p>
          <a:p>
            <a:r>
              <a:rPr lang="en-US" dirty="0"/>
              <a:t>Because Spark evaluates transformations lazily, it </a:t>
            </a:r>
            <a:r>
              <a:rPr lang="en-US" dirty="0" err="1"/>
              <a:t>recomputes</a:t>
            </a:r>
            <a:r>
              <a:rPr lang="en-US" dirty="0"/>
              <a:t> the entire data lineage graph from scratch every time an action is called</a:t>
            </a:r>
            <a:r>
              <a:rPr lang="en-US" dirty="0" smtClean="0"/>
              <a:t>.</a:t>
            </a:r>
          </a:p>
          <a:p>
            <a:r>
              <a:rPr lang="en-US" dirty="0"/>
              <a:t>Caching saves these partial results so subsequent operations can reuse them immediately, cutting down execution time and resource </a:t>
            </a:r>
            <a:r>
              <a:rPr lang="en-US" dirty="0" smtClean="0"/>
              <a:t>overhead.</a:t>
            </a:r>
            <a:endParaRPr lang="en-IN" dirty="0"/>
          </a:p>
        </p:txBody>
      </p:sp>
    </p:spTree>
    <p:extLst>
      <p:ext uri="{BB962C8B-B14F-4D97-AF65-F5344CB8AC3E}">
        <p14:creationId xmlns:p14="http://schemas.microsoft.com/office/powerpoint/2010/main" val="665095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While both mechanisms achieve the same goal, the core difference lies in flexibility and customization:</a:t>
            </a:r>
            <a:endParaRPr lang="en-IN" dirty="0"/>
          </a:p>
        </p:txBody>
      </p:sp>
      <p:sp>
        <p:nvSpPr>
          <p:cNvPr id="4" name="Rectangle 1"/>
          <p:cNvSpPr>
            <a:spLocks noGrp="1" noChangeArrowheads="1"/>
          </p:cNvSpPr>
          <p:nvPr>
            <p:ph type="title"/>
          </p:nvPr>
        </p:nvSpPr>
        <p:spPr bwMode="auto">
          <a:xfrm>
            <a:off x="1160416" y="787048"/>
            <a:ext cx="986052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fontAlgn="base">
              <a:lnSpc>
                <a:spcPct val="100000"/>
              </a:lnSpc>
              <a:spcAft>
                <a:spcPct val="0"/>
              </a:spcAft>
              <a:buClrTx/>
              <a:buSzTx/>
              <a:tabLst/>
            </a:pPr>
            <a:r>
              <a:rPr lang="en-US" altLang="en-US" dirty="0"/>
              <a:t>The Difference Between cache() and persist() </a:t>
            </a:r>
          </a:p>
        </p:txBody>
      </p:sp>
      <p:pic>
        <p:nvPicPr>
          <p:cNvPr id="5" name="Picture 4"/>
          <p:cNvPicPr>
            <a:picLocks noChangeAspect="1"/>
          </p:cNvPicPr>
          <p:nvPr/>
        </p:nvPicPr>
        <p:blipFill>
          <a:blip r:embed="rId2"/>
          <a:stretch>
            <a:fillRect/>
          </a:stretch>
        </p:blipFill>
        <p:spPr>
          <a:xfrm>
            <a:off x="3000549" y="2804679"/>
            <a:ext cx="6057900" cy="2495550"/>
          </a:xfrm>
          <a:prstGeom prst="rect">
            <a:avLst/>
          </a:prstGeom>
        </p:spPr>
      </p:pic>
    </p:spTree>
    <p:extLst>
      <p:ext uri="{BB962C8B-B14F-4D97-AF65-F5344CB8AC3E}">
        <p14:creationId xmlns:p14="http://schemas.microsoft.com/office/powerpoint/2010/main" val="240632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Spark Storage Levels</a:t>
            </a:r>
          </a:p>
        </p:txBody>
      </p:sp>
      <p:sp>
        <p:nvSpPr>
          <p:cNvPr id="4" name="Rectangle 1"/>
          <p:cNvSpPr>
            <a:spLocks noGrp="1" noChangeArrowheads="1"/>
          </p:cNvSpPr>
          <p:nvPr>
            <p:ph idx="1"/>
          </p:nvPr>
        </p:nvSpPr>
        <p:spPr bwMode="auto">
          <a:xfrm>
            <a:off x="531372" y="1916013"/>
            <a:ext cx="10827625"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36900" marR="0" lvl="0" indent="0" fontAlgn="base">
              <a:lnSpc>
                <a:spcPct val="100000"/>
              </a:lnSpc>
              <a:buNone/>
              <a:tabLst/>
            </a:pPr>
            <a:r>
              <a:rPr lang="en-US" altLang="en-US" sz="1200" dirty="0">
                <a:latin typeface="Times New Roman" panose="02020603050405020304" pitchFamily="18" charset="0"/>
                <a:cs typeface="Times New Roman" panose="02020603050405020304" pitchFamily="18" charset="0"/>
              </a:rPr>
              <a:t>When using .persist(), you can fine-tune your resource consumption using several </a:t>
            </a:r>
            <a:r>
              <a:rPr lang="en-US" altLang="en-US" sz="1200" dirty="0" smtClean="0">
                <a:latin typeface="Times New Roman" panose="02020603050405020304" pitchFamily="18" charset="0"/>
                <a:cs typeface="Times New Roman" panose="02020603050405020304" pitchFamily="18" charset="0"/>
              </a:rPr>
              <a:t>Storage Levels:</a:t>
            </a:r>
          </a:p>
          <a:p>
            <a:pPr marL="36900" indent="0" fontAlgn="base">
              <a:buNone/>
            </a:pP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MEMORY_ONLY</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Stores data as </a:t>
            </a:r>
            <a:r>
              <a:rPr lang="en-US" altLang="en-US" sz="1200" dirty="0" err="1">
                <a:ln>
                  <a:noFill/>
                </a:ln>
                <a:solidFill>
                  <a:schemeClr val="tx1"/>
                </a:solidFill>
                <a:effectLst/>
                <a:latin typeface="Times New Roman" panose="02020603050405020304" pitchFamily="18" charset="0"/>
                <a:cs typeface="Times New Roman" panose="02020603050405020304" pitchFamily="18" charset="0"/>
              </a:rPr>
              <a:t>deserialized</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Java objects in memory. If a partition does not fit, it isn't cached and gets recomputed on the fly when needed. </a:t>
            </a:r>
            <a:endParaRPr lang="en-US" altLang="en-US" sz="1200" dirty="0" smtClean="0">
              <a:ln>
                <a:noFill/>
              </a:ln>
              <a:solidFill>
                <a:schemeClr val="tx1"/>
              </a:solidFill>
              <a:effectLst/>
              <a:latin typeface="Times New Roman" panose="02020603050405020304" pitchFamily="18" charset="0"/>
              <a:cs typeface="Times New Roman" panose="02020603050405020304" pitchFamily="18" charset="0"/>
            </a:endParaRPr>
          </a:p>
          <a:p>
            <a:pPr marL="36900" indent="0" fontAlgn="base">
              <a:buNone/>
            </a:pP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MEMORY_ONLY_SER</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Stores data as serialized Java objects (one byte array per partition). This is much more space-efficient than </a:t>
            </a:r>
            <a:r>
              <a:rPr lang="en-US" altLang="en-US" sz="1200" dirty="0" err="1">
                <a:ln>
                  <a:noFill/>
                </a:ln>
                <a:solidFill>
                  <a:schemeClr val="tx1"/>
                </a:solidFill>
                <a:effectLst/>
                <a:latin typeface="Times New Roman" panose="02020603050405020304" pitchFamily="18" charset="0"/>
                <a:cs typeface="Times New Roman" panose="02020603050405020304" pitchFamily="18" charset="0"/>
              </a:rPr>
              <a:t>deserialized</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data but adds CPU overhead to serialize/</a:t>
            </a:r>
            <a:r>
              <a:rPr lang="en-US" altLang="en-US" sz="1200" dirty="0" err="1">
                <a:ln>
                  <a:noFill/>
                </a:ln>
                <a:solidFill>
                  <a:schemeClr val="tx1"/>
                </a:solidFill>
                <a:effectLst/>
                <a:latin typeface="Times New Roman" panose="02020603050405020304" pitchFamily="18" charset="0"/>
                <a:cs typeface="Times New Roman" panose="02020603050405020304" pitchFamily="18" charset="0"/>
              </a:rPr>
              <a:t>deserialize</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a:t>
            </a:r>
            <a:endParaRPr lang="en-US" altLang="en-US" sz="1200" dirty="0" smtClean="0">
              <a:ln>
                <a:noFill/>
              </a:ln>
              <a:solidFill>
                <a:schemeClr val="tx1"/>
              </a:solidFill>
              <a:effectLst/>
              <a:latin typeface="Times New Roman" panose="02020603050405020304" pitchFamily="18" charset="0"/>
              <a:cs typeface="Times New Roman" panose="02020603050405020304" pitchFamily="18" charset="0"/>
            </a:endParaRPr>
          </a:p>
          <a:p>
            <a:pPr marL="36900" indent="0" fontAlgn="base">
              <a:buNone/>
            </a:pPr>
            <a:endParaRPr lang="en-US" altLang="en-US" sz="1200" dirty="0">
              <a:ln>
                <a:noFill/>
              </a:ln>
              <a:solidFill>
                <a:schemeClr val="tx1"/>
              </a:solidFill>
              <a:effectLst/>
              <a:latin typeface="Times New Roman" panose="02020603050405020304" pitchFamily="18" charset="0"/>
              <a:cs typeface="Times New Roman" panose="02020603050405020304" pitchFamily="18" charset="0"/>
            </a:endParaRPr>
          </a:p>
          <a:p>
            <a:pPr marL="36900" indent="0" fontAlgn="base">
              <a:buNone/>
            </a:pPr>
            <a:endParaRPr lang="en-US" altLang="en-US" sz="1200" dirty="0">
              <a:ln>
                <a:noFill/>
              </a:ln>
              <a:solidFill>
                <a:schemeClr val="tx1"/>
              </a:solidFill>
              <a:effectLst/>
              <a:latin typeface="Times New Roman" panose="02020603050405020304" pitchFamily="18" charset="0"/>
              <a:cs typeface="Times New Roman" panose="02020603050405020304" pitchFamily="18" charset="0"/>
            </a:endParaRPr>
          </a:p>
          <a:p>
            <a:pPr marL="36900" indent="0" fontAlgn="base">
              <a:buNone/>
            </a:pPr>
            <a:endParaRPr lang="en-US" altLang="en-US" sz="1200" dirty="0" smtClean="0">
              <a:ln>
                <a:noFill/>
              </a:ln>
              <a:solidFill>
                <a:schemeClr val="tx1"/>
              </a:solidFill>
              <a:effectLst/>
              <a:latin typeface="Times New Roman" panose="02020603050405020304" pitchFamily="18" charset="0"/>
              <a:cs typeface="Times New Roman" panose="02020603050405020304" pitchFamily="18" charset="0"/>
            </a:endParaRPr>
          </a:p>
          <a:p>
            <a:pPr marL="36900" marR="0" lvl="0" indent="0" fontAlgn="base">
              <a:lnSpc>
                <a:spcPct val="100000"/>
              </a:lnSpc>
              <a:buNone/>
              <a:tabLst/>
            </a:pPr>
            <a:endParaRPr lang="en-US" altLang="en-US" sz="1200" dirty="0">
              <a:latin typeface="Times New Roman" panose="02020603050405020304" pitchFamily="18" charset="0"/>
              <a:cs typeface="Times New Roman" panose="02020603050405020304" pitchFamily="18" charset="0"/>
            </a:endParaRPr>
          </a:p>
        </p:txBody>
      </p:sp>
      <p:sp>
        <p:nvSpPr>
          <p:cNvPr id="7" name="Rectangle 4"/>
          <p:cNvSpPr>
            <a:spLocks noChangeArrowheads="1"/>
          </p:cNvSpPr>
          <p:nvPr/>
        </p:nvSpPr>
        <p:spPr bwMode="auto">
          <a:xfrm>
            <a:off x="0"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615142" y="2958411"/>
            <a:ext cx="889025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MEMORY_AND_DISK</a:t>
            </a:r>
            <a:r>
              <a:rPr kumimoji="0" lang="en-US" altLang="en-US" sz="1200" b="0" i="0" u="none" strike="noStrike" cap="none" normalizeH="0" baseline="0" dirty="0" smtClean="0">
                <a:ln>
                  <a:noFill/>
                </a:ln>
                <a:solidFill>
                  <a:schemeClr val="tx1"/>
                </a:solidFill>
                <a:effectLst/>
                <a:latin typeface="Google Sans"/>
              </a:rPr>
              <a:t>: Stores data in memory as </a:t>
            </a:r>
            <a:r>
              <a:rPr kumimoji="0" lang="en-US" altLang="en-US" sz="1200" b="0" i="0" u="none" strike="noStrike" cap="none" normalizeH="0" baseline="0" dirty="0" err="1" smtClean="0">
                <a:ln>
                  <a:noFill/>
                </a:ln>
                <a:solidFill>
                  <a:schemeClr val="tx1"/>
                </a:solidFill>
                <a:effectLst/>
                <a:latin typeface="Google Sans"/>
              </a:rPr>
              <a:t>deserialized</a:t>
            </a:r>
            <a:r>
              <a:rPr kumimoji="0" lang="en-US" altLang="en-US" sz="1200" b="0" i="0" u="none" strike="noStrike" cap="none" normalizeH="0" baseline="0" dirty="0" smtClean="0">
                <a:ln>
                  <a:noFill/>
                </a:ln>
                <a:solidFill>
                  <a:schemeClr val="tx1"/>
                </a:solidFill>
                <a:effectLst/>
                <a:latin typeface="Google Sans"/>
              </a:rPr>
              <a:t> objects. If data does not fit, the extra partitions spill over to the local disk.</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10"/>
          <p:cNvSpPr>
            <a:spLocks noChangeArrowheads="1"/>
          </p:cNvSpPr>
          <p:nvPr/>
        </p:nvSpPr>
        <p:spPr bwMode="auto">
          <a:xfrm>
            <a:off x="531372" y="312355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MEMORY_AND_DISK_SER</a:t>
            </a:r>
            <a:r>
              <a:rPr kumimoji="0" lang="en-US" altLang="en-US" sz="800" b="0" i="0" u="none" strike="noStrike" cap="none" normalizeH="0" baseline="0" dirty="0" smtClean="0">
                <a:ln>
                  <a:noFill/>
                </a:ln>
                <a:solidFill>
                  <a:schemeClr val="tx1"/>
                </a:solidFill>
                <a:effectLst/>
              </a:rPr>
              <a:t>: Works like </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MEMORY_ONLY_SER</a:t>
            </a:r>
            <a:r>
              <a:rPr kumimoji="0" lang="en-US" altLang="en-US" sz="1200" b="0" i="0" u="none" strike="noStrike" cap="none" normalizeH="0" baseline="0" dirty="0" smtClean="0">
                <a:ln>
                  <a:noFill/>
                </a:ln>
                <a:solidFill>
                  <a:schemeClr val="tx1"/>
                </a:solidFill>
                <a:effectLst/>
                <a:latin typeface="Google Sans"/>
              </a:rPr>
              <a:t>, but spills extra data onto the disk instead of dropping it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11"/>
          <p:cNvSpPr>
            <a:spLocks noChangeArrowheads="1"/>
          </p:cNvSpPr>
          <p:nvPr/>
        </p:nvSpPr>
        <p:spPr bwMode="auto">
          <a:xfrm>
            <a:off x="615142" y="358075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DISK_ONLY</a:t>
            </a:r>
            <a:r>
              <a:rPr kumimoji="0" lang="en-US" altLang="en-US" sz="800" b="0" i="0" u="none" strike="noStrike" cap="none" normalizeH="0" baseline="0" dirty="0" smtClean="0">
                <a:ln>
                  <a:noFill/>
                </a:ln>
                <a:solidFill>
                  <a:schemeClr val="tx1"/>
                </a:solidFill>
                <a:effectLst/>
              </a:rPr>
              <a:t>: Saves all cached data only on the local disk.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12"/>
          <p:cNvSpPr>
            <a:spLocks noChangeArrowheads="1"/>
          </p:cNvSpPr>
          <p:nvPr/>
        </p:nvSpPr>
        <p:spPr bwMode="auto">
          <a:xfrm>
            <a:off x="531372" y="388083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OFF_HEAP</a:t>
            </a:r>
            <a:r>
              <a:rPr kumimoji="0" lang="en-US" altLang="en-US" sz="800" b="0" i="0" u="none" strike="noStrike" cap="none" normalizeH="0" baseline="0" smtClean="0">
                <a:ln>
                  <a:noFill/>
                </a:ln>
                <a:solidFill>
                  <a:schemeClr val="tx1"/>
                </a:solidFill>
                <a:effectLst/>
              </a:rPr>
              <a:t>: Keeps data in off-heap memory (outside the regular JVM heap), which reduces garbage collection overhead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2710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Shuffle </a:t>
            </a:r>
            <a:r>
              <a:rPr lang="en-US" dirty="0"/>
              <a:t>operations in spark</a:t>
            </a:r>
          </a:p>
        </p:txBody>
      </p:sp>
      <p:sp>
        <p:nvSpPr>
          <p:cNvPr id="3" name="Content Placeholder 2"/>
          <p:cNvSpPr>
            <a:spLocks noGrp="1"/>
          </p:cNvSpPr>
          <p:nvPr>
            <p:ph idx="1"/>
          </p:nvPr>
        </p:nvSpPr>
        <p:spPr/>
        <p:txBody>
          <a:bodyPr/>
          <a:lstStyle/>
          <a:p>
            <a:r>
              <a:rPr lang="en-US" dirty="0" smtClean="0">
                <a:effectLst/>
              </a:rPr>
              <a:t>It is a </a:t>
            </a:r>
            <a:r>
              <a:rPr lang="en-US" b="1" dirty="0">
                <a:effectLst/>
              </a:rPr>
              <a:t>shuffle operation</a:t>
            </a:r>
            <a:r>
              <a:rPr lang="en-US" dirty="0"/>
              <a:t> is the process of redistributing and reorganizing data across different partitions and cluster nodes so that records with the same keys are physically grouped </a:t>
            </a:r>
            <a:r>
              <a:rPr lang="en-US" dirty="0" smtClean="0"/>
              <a:t>together.</a:t>
            </a:r>
          </a:p>
          <a:p>
            <a:r>
              <a:rPr lang="en-US" dirty="0"/>
              <a:t>Shuffling is triggered by </a:t>
            </a:r>
            <a:r>
              <a:rPr lang="en-US" b="1" dirty="0">
                <a:effectLst/>
              </a:rPr>
              <a:t>wide transformations</a:t>
            </a:r>
            <a:r>
              <a:rPr lang="en-US" dirty="0"/>
              <a:t> (where the data needed to compute a single result lives in multiple partitions across the cluster). </a:t>
            </a:r>
            <a:endParaRPr lang="en-US" dirty="0" smtClean="0"/>
          </a:p>
          <a:p>
            <a:r>
              <a:rPr lang="en-US" dirty="0" smtClean="0"/>
              <a:t>Because </a:t>
            </a:r>
            <a:r>
              <a:rPr lang="en-US" dirty="0"/>
              <a:t>it forces data to travel over the network and write to local disks, shuffling is the </a:t>
            </a:r>
            <a:r>
              <a:rPr lang="en-US" b="1" dirty="0">
                <a:effectLst/>
              </a:rPr>
              <a:t>#1 performance bottleneck</a:t>
            </a:r>
            <a:r>
              <a:rPr lang="en-US" dirty="0"/>
              <a:t> in most Spark </a:t>
            </a:r>
            <a:r>
              <a:rPr lang="en-US" dirty="0" smtClean="0"/>
              <a:t>applications.</a:t>
            </a:r>
          </a:p>
          <a:p>
            <a:r>
              <a:rPr lang="en-US" dirty="0">
                <a:effectLst/>
              </a:rPr>
              <a:t>The data moving from one partition to the other partition process in order to mat up, aggregate, join, or spread out in other ways is called a shuffle.</a:t>
            </a:r>
            <a:endParaRPr lang="en-US" dirty="0"/>
          </a:p>
        </p:txBody>
      </p:sp>
    </p:spTree>
    <p:extLst>
      <p:ext uri="{BB962C8B-B14F-4D97-AF65-F5344CB8AC3E}">
        <p14:creationId xmlns:p14="http://schemas.microsoft.com/office/powerpoint/2010/main" val="2610105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How Spark Architecture Shuffle Works</a:t>
            </a:r>
          </a:p>
        </p:txBody>
      </p:sp>
      <p:pic>
        <p:nvPicPr>
          <p:cNvPr id="4" name="Content Placeholder 3"/>
          <p:cNvPicPr>
            <a:picLocks noGrp="1" noChangeAspect="1"/>
          </p:cNvPicPr>
          <p:nvPr>
            <p:ph idx="1"/>
          </p:nvPr>
        </p:nvPicPr>
        <p:blipFill>
          <a:blip r:embed="rId2"/>
          <a:stretch>
            <a:fillRect/>
          </a:stretch>
        </p:blipFill>
        <p:spPr>
          <a:xfrm>
            <a:off x="2158583" y="1580050"/>
            <a:ext cx="7194419" cy="4826635"/>
          </a:xfrm>
          <a:prstGeom prst="rect">
            <a:avLst/>
          </a:prstGeom>
        </p:spPr>
      </p:pic>
    </p:spTree>
    <p:extLst>
      <p:ext uri="{BB962C8B-B14F-4D97-AF65-F5344CB8AC3E}">
        <p14:creationId xmlns:p14="http://schemas.microsoft.com/office/powerpoint/2010/main" val="264105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to study in shuffle operations </a:t>
            </a:r>
            <a:endParaRPr lang="en-US" dirty="0"/>
          </a:p>
        </p:txBody>
      </p:sp>
      <p:sp>
        <p:nvSpPr>
          <p:cNvPr id="3" name="Content Placeholder 2"/>
          <p:cNvSpPr>
            <a:spLocks noGrp="1"/>
          </p:cNvSpPr>
          <p:nvPr>
            <p:ph idx="1"/>
          </p:nvPr>
        </p:nvSpPr>
        <p:spPr/>
        <p:txBody>
          <a:bodyPr/>
          <a:lstStyle/>
          <a:p>
            <a:r>
              <a:rPr lang="en-US" dirty="0"/>
              <a:t>https://www.educba.com/spark-shuffle/</a:t>
            </a:r>
          </a:p>
        </p:txBody>
      </p:sp>
    </p:spTree>
    <p:extLst>
      <p:ext uri="{BB962C8B-B14F-4D97-AF65-F5344CB8AC3E}">
        <p14:creationId xmlns:p14="http://schemas.microsoft.com/office/powerpoint/2010/main" val="3887187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a:t>
            </a:r>
            <a:endParaRPr lang="en-US" dirty="0"/>
          </a:p>
        </p:txBody>
      </p:sp>
      <p:sp>
        <p:nvSpPr>
          <p:cNvPr id="3" name="Content Placeholder 2"/>
          <p:cNvSpPr>
            <a:spLocks noGrp="1"/>
          </p:cNvSpPr>
          <p:nvPr>
            <p:ph idx="1"/>
          </p:nvPr>
        </p:nvSpPr>
        <p:spPr/>
        <p:txBody>
          <a:bodyPr/>
          <a:lstStyle/>
          <a:p>
            <a:r>
              <a:rPr lang="en-US" b="1" dirty="0"/>
              <a:t>"Causes"</a:t>
            </a:r>
            <a:r>
              <a:rPr lang="en-US" dirty="0"/>
              <a:t> usually refers to either </a:t>
            </a:r>
            <a:r>
              <a:rPr lang="en-US" b="1" dirty="0"/>
              <a:t>the root causes of performance bottlenecks/failures</a:t>
            </a:r>
            <a:r>
              <a:rPr lang="en-US" dirty="0"/>
              <a:t> or </a:t>
            </a:r>
            <a:r>
              <a:rPr lang="en-US" b="1" dirty="0"/>
              <a:t>how errors propagate across the execution hierarchy</a:t>
            </a:r>
            <a:r>
              <a:rPr lang="en-US" dirty="0" smtClean="0"/>
              <a:t>.</a:t>
            </a:r>
          </a:p>
          <a:p>
            <a:r>
              <a:rPr lang="en-US" dirty="0"/>
              <a:t>Primary Causes of Spark Job Failures &amp; Performance </a:t>
            </a:r>
            <a:r>
              <a:rPr lang="en-US" dirty="0" smtClean="0"/>
              <a:t>Bottlenecks:</a:t>
            </a:r>
          </a:p>
          <a:p>
            <a:pPr lvl="1"/>
            <a:r>
              <a:rPr lang="en-US" dirty="0"/>
              <a:t>Out of Memory (OOM) </a:t>
            </a:r>
            <a:r>
              <a:rPr lang="en-US" dirty="0" smtClean="0"/>
              <a:t>Errors</a:t>
            </a:r>
          </a:p>
          <a:p>
            <a:pPr lvl="1"/>
            <a:r>
              <a:rPr lang="en-US" dirty="0"/>
              <a:t>High Data </a:t>
            </a:r>
            <a:r>
              <a:rPr lang="en-US" dirty="0" smtClean="0"/>
              <a:t>Shuffling</a:t>
            </a:r>
          </a:p>
          <a:p>
            <a:pPr lvl="1"/>
            <a:r>
              <a:rPr lang="en-US" dirty="0"/>
              <a:t>Data </a:t>
            </a:r>
            <a:r>
              <a:rPr lang="en-US" dirty="0" smtClean="0"/>
              <a:t>Skew</a:t>
            </a:r>
          </a:p>
          <a:p>
            <a:pPr lvl="1"/>
            <a:r>
              <a:rPr lang="en-US" dirty="0"/>
              <a:t>Executor Lost / Container Killed</a:t>
            </a:r>
          </a:p>
        </p:txBody>
      </p:sp>
    </p:spTree>
    <p:extLst>
      <p:ext uri="{BB962C8B-B14F-4D97-AF65-F5344CB8AC3E}">
        <p14:creationId xmlns:p14="http://schemas.microsoft.com/office/powerpoint/2010/main" val="2491917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 in spark</a:t>
            </a:r>
          </a:p>
        </p:txBody>
      </p:sp>
      <p:sp>
        <p:nvSpPr>
          <p:cNvPr id="3" name="Content Placeholder 2"/>
          <p:cNvSpPr>
            <a:spLocks noGrp="1"/>
          </p:cNvSpPr>
          <p:nvPr>
            <p:ph idx="1"/>
          </p:nvPr>
        </p:nvSpPr>
        <p:spPr/>
        <p:txBody>
          <a:bodyPr/>
          <a:lstStyle/>
          <a:p>
            <a:r>
              <a:rPr lang="en-US" dirty="0"/>
              <a:t>Apache Spark manages executor memory using a </a:t>
            </a:r>
            <a:r>
              <a:rPr lang="en-US" dirty="0">
                <a:effectLst/>
                <a:hlinkClick r:id="rId2"/>
              </a:rPr>
              <a:t>Unified Memory Manager</a:t>
            </a:r>
            <a:r>
              <a:rPr lang="en-US" dirty="0"/>
              <a:t> that divides the Java Virtual Machine (JVM) heap into distinct, dynamic regions</a:t>
            </a:r>
            <a:r>
              <a:rPr lang="en-US" dirty="0" smtClean="0"/>
              <a:t>.</a:t>
            </a:r>
          </a:p>
          <a:p>
            <a:r>
              <a:rPr lang="en-US" dirty="0"/>
              <a:t>Executor Memory </a:t>
            </a:r>
            <a:r>
              <a:rPr lang="en-US" dirty="0" smtClean="0"/>
              <a:t>Breakdown:</a:t>
            </a:r>
          </a:p>
          <a:p>
            <a:pPr lvl="1"/>
            <a:endParaRPr lang="en-US" dirty="0"/>
          </a:p>
        </p:txBody>
      </p:sp>
    </p:spTree>
    <p:extLst>
      <p:ext uri="{BB962C8B-B14F-4D97-AF65-F5344CB8AC3E}">
        <p14:creationId xmlns:p14="http://schemas.microsoft.com/office/powerpoint/2010/main" val="3504674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6082"/>
            <a:ext cx="12192000" cy="6851917"/>
          </a:xfrm>
          <a:prstGeom prst="rect">
            <a:avLst/>
          </a:prstGeom>
        </p:spPr>
      </p:pic>
    </p:spTree>
    <p:extLst>
      <p:ext uri="{BB962C8B-B14F-4D97-AF65-F5344CB8AC3E}">
        <p14:creationId xmlns:p14="http://schemas.microsoft.com/office/powerpoint/2010/main" val="1799112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Executor memory </a:t>
            </a:r>
            <a:r>
              <a:rPr lang="en-US" b="1" dirty="0" smtClean="0">
                <a:effectLst/>
              </a:rPr>
              <a:t>breakdown</a:t>
            </a:r>
            <a:endParaRPr lang="en-US" dirty="0"/>
          </a:p>
        </p:txBody>
      </p:sp>
      <p:sp>
        <p:nvSpPr>
          <p:cNvPr id="3" name="Content Placeholder 2"/>
          <p:cNvSpPr>
            <a:spLocks noGrp="1"/>
          </p:cNvSpPr>
          <p:nvPr>
            <p:ph idx="1"/>
          </p:nvPr>
        </p:nvSpPr>
        <p:spPr/>
        <p:txBody>
          <a:bodyPr/>
          <a:lstStyle/>
          <a:p>
            <a:r>
              <a:rPr lang="en-US" b="1" dirty="0">
                <a:effectLst/>
              </a:rPr>
              <a:t>Reserved Memory</a:t>
            </a:r>
          </a:p>
          <a:p>
            <a:pPr lvl="1"/>
            <a:r>
              <a:rPr lang="en-US" dirty="0">
                <a:effectLst/>
              </a:rPr>
              <a:t>This is the memory reserved by the system, and its size is hardcoded. </a:t>
            </a:r>
            <a:endParaRPr lang="en-US" dirty="0" smtClean="0">
              <a:effectLst/>
            </a:endParaRPr>
          </a:p>
          <a:p>
            <a:pPr lvl="1"/>
            <a:r>
              <a:rPr lang="en-US" dirty="0">
                <a:effectLst/>
              </a:rPr>
              <a:t>This memory stores sparks internal objects</a:t>
            </a:r>
            <a:r>
              <a:rPr lang="en-US" dirty="0" smtClean="0">
                <a:effectLst/>
              </a:rPr>
              <a:t>.</a:t>
            </a:r>
          </a:p>
          <a:p>
            <a:pPr lvl="1"/>
            <a:r>
              <a:rPr lang="en-US" dirty="0" smtClean="0"/>
              <a:t>One </a:t>
            </a:r>
            <a:r>
              <a:rPr lang="en-US" dirty="0"/>
              <a:t>thing to note is that, if the executor memory is less than 1.5 times of reserved memory, Spark will fail with a “please use larger heap size” error message.</a:t>
            </a:r>
          </a:p>
        </p:txBody>
      </p:sp>
    </p:spTree>
    <p:extLst>
      <p:ext uri="{BB962C8B-B14F-4D97-AF65-F5344CB8AC3E}">
        <p14:creationId xmlns:p14="http://schemas.microsoft.com/office/powerpoint/2010/main" val="18754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Executor memory breakdown</a:t>
            </a:r>
            <a:endParaRPr lang="en-US" dirty="0"/>
          </a:p>
        </p:txBody>
      </p:sp>
      <p:sp>
        <p:nvSpPr>
          <p:cNvPr id="3" name="Content Placeholder 2"/>
          <p:cNvSpPr>
            <a:spLocks noGrp="1"/>
          </p:cNvSpPr>
          <p:nvPr>
            <p:ph idx="1"/>
          </p:nvPr>
        </p:nvSpPr>
        <p:spPr/>
        <p:txBody>
          <a:bodyPr/>
          <a:lstStyle/>
          <a:p>
            <a:r>
              <a:rPr lang="en-US" b="1" dirty="0">
                <a:effectLst/>
              </a:rPr>
              <a:t>User Memory</a:t>
            </a:r>
          </a:p>
          <a:p>
            <a:pPr lvl="1"/>
            <a:r>
              <a:rPr lang="en-US" dirty="0">
                <a:effectLst/>
              </a:rPr>
              <a:t>This is the memory area that stores all the user defined data structures, any </a:t>
            </a:r>
            <a:r>
              <a:rPr lang="en-US" dirty="0" smtClean="0">
                <a:effectLst/>
              </a:rPr>
              <a:t>User defined functions  </a:t>
            </a:r>
            <a:r>
              <a:rPr lang="en-US" dirty="0">
                <a:effectLst/>
              </a:rPr>
              <a:t>created by the user </a:t>
            </a:r>
            <a:r>
              <a:rPr lang="en-US" dirty="0" err="1">
                <a:effectLst/>
              </a:rPr>
              <a:t>etc</a:t>
            </a:r>
            <a:r>
              <a:rPr lang="en-US" dirty="0" smtClean="0">
                <a:effectLst/>
              </a:rPr>
              <a:t>,</a:t>
            </a:r>
          </a:p>
          <a:p>
            <a:pPr lvl="1"/>
            <a:r>
              <a:rPr lang="en-US" dirty="0">
                <a:effectLst/>
              </a:rPr>
              <a:t>The size of this memory pool can be calculated as (Java Heap — Reserved Memory) * (1.0 — </a:t>
            </a:r>
            <a:r>
              <a:rPr lang="en-US" dirty="0" err="1">
                <a:effectLst/>
              </a:rPr>
              <a:t>spark.memory.fraction</a:t>
            </a:r>
            <a:r>
              <a:rPr lang="en-US" dirty="0" smtClean="0">
                <a:effectLst/>
              </a:rPr>
              <a:t>).</a:t>
            </a:r>
          </a:p>
          <a:p>
            <a:pPr lvl="1"/>
            <a:r>
              <a:rPr lang="en-US" i="1" dirty="0">
                <a:effectLst/>
              </a:rPr>
              <a:t>Formula</a:t>
            </a:r>
            <a:r>
              <a:rPr lang="en-US" dirty="0">
                <a:effectLst/>
              </a:rPr>
              <a:t> : </a:t>
            </a:r>
            <a:r>
              <a:rPr lang="en-US" b="1" dirty="0">
                <a:effectLst/>
              </a:rPr>
              <a:t>User Memory =</a:t>
            </a:r>
            <a:r>
              <a:rPr lang="en-US" dirty="0">
                <a:effectLst/>
              </a:rPr>
              <a:t> </a:t>
            </a:r>
            <a:r>
              <a:rPr lang="en-US" b="1" dirty="0">
                <a:effectLst/>
              </a:rPr>
              <a:t>(Java Heap — Reserved Memory) * (1.0 — </a:t>
            </a:r>
            <a:r>
              <a:rPr lang="en-US" b="1" dirty="0" err="1">
                <a:effectLst/>
              </a:rPr>
              <a:t>spark.memory.fraction</a:t>
            </a:r>
            <a:r>
              <a:rPr lang="en-US" b="1" dirty="0">
                <a:effectLst/>
              </a:rPr>
              <a:t>)</a:t>
            </a:r>
            <a:endParaRPr lang="en-US" dirty="0"/>
          </a:p>
        </p:txBody>
      </p:sp>
    </p:spTree>
    <p:extLst>
      <p:ext uri="{BB962C8B-B14F-4D97-AF65-F5344CB8AC3E}">
        <p14:creationId xmlns:p14="http://schemas.microsoft.com/office/powerpoint/2010/main" val="4205736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Executor memory breakdown</a:t>
            </a:r>
            <a:endParaRPr lang="en-US" dirty="0"/>
          </a:p>
        </p:txBody>
      </p:sp>
      <p:sp>
        <p:nvSpPr>
          <p:cNvPr id="3" name="Content Placeholder 2"/>
          <p:cNvSpPr>
            <a:spLocks noGrp="1"/>
          </p:cNvSpPr>
          <p:nvPr>
            <p:ph idx="1"/>
          </p:nvPr>
        </p:nvSpPr>
        <p:spPr/>
        <p:txBody>
          <a:bodyPr/>
          <a:lstStyle/>
          <a:p>
            <a:r>
              <a:rPr lang="en-US" b="1" dirty="0">
                <a:effectLst/>
              </a:rPr>
              <a:t>Spark Memory</a:t>
            </a:r>
          </a:p>
          <a:p>
            <a:pPr lvl="1"/>
            <a:r>
              <a:rPr lang="en-US" dirty="0">
                <a:effectLst/>
              </a:rPr>
              <a:t>This memory pool is managed by Spark. </a:t>
            </a:r>
            <a:endParaRPr lang="en-US" dirty="0" smtClean="0">
              <a:effectLst/>
            </a:endParaRPr>
          </a:p>
          <a:p>
            <a:pPr lvl="1"/>
            <a:r>
              <a:rPr lang="en-US" dirty="0" smtClean="0">
                <a:effectLst/>
              </a:rPr>
              <a:t>This </a:t>
            </a:r>
            <a:r>
              <a:rPr lang="en-US" dirty="0">
                <a:effectLst/>
              </a:rPr>
              <a:t>is responsible for storing intermediate state while doing task execution like joins or to store the broadcast variables. </a:t>
            </a:r>
            <a:endParaRPr lang="en-US" dirty="0" smtClean="0">
              <a:effectLst/>
            </a:endParaRPr>
          </a:p>
          <a:p>
            <a:pPr lvl="1"/>
            <a:r>
              <a:rPr lang="en-US" dirty="0" smtClean="0">
                <a:effectLst/>
              </a:rPr>
              <a:t>All </a:t>
            </a:r>
            <a:r>
              <a:rPr lang="en-US" dirty="0">
                <a:effectLst/>
              </a:rPr>
              <a:t>the cached/persisted data will be stored in this segment, specifically in the storage memory of this segment</a:t>
            </a:r>
            <a:r>
              <a:rPr lang="en-US" dirty="0" smtClean="0">
                <a:effectLst/>
              </a:rPr>
              <a:t>.</a:t>
            </a:r>
          </a:p>
          <a:p>
            <a:pPr lvl="1"/>
            <a:r>
              <a:rPr lang="en-US" i="1" dirty="0">
                <a:effectLst/>
              </a:rPr>
              <a:t>Formula</a:t>
            </a:r>
            <a:r>
              <a:rPr lang="en-US" dirty="0">
                <a:effectLst/>
              </a:rPr>
              <a:t> : </a:t>
            </a:r>
            <a:r>
              <a:rPr lang="en-US" b="1" dirty="0">
                <a:effectLst/>
              </a:rPr>
              <a:t>(Java Heap — Reserved Memory) * </a:t>
            </a:r>
            <a:r>
              <a:rPr lang="en-US" b="1" dirty="0" err="1">
                <a:effectLst/>
              </a:rPr>
              <a:t>spark.memory.fraction</a:t>
            </a:r>
            <a:endParaRPr lang="en-US" dirty="0"/>
          </a:p>
        </p:txBody>
      </p:sp>
    </p:spTree>
    <p:extLst>
      <p:ext uri="{BB962C8B-B14F-4D97-AF65-F5344CB8AC3E}">
        <p14:creationId xmlns:p14="http://schemas.microsoft.com/office/powerpoint/2010/main" val="1029954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Executor memory breakdown</a:t>
            </a:r>
            <a:endParaRPr lang="en-US" dirty="0"/>
          </a:p>
        </p:txBody>
      </p:sp>
      <p:sp>
        <p:nvSpPr>
          <p:cNvPr id="3" name="Content Placeholder 2"/>
          <p:cNvSpPr>
            <a:spLocks noGrp="1"/>
          </p:cNvSpPr>
          <p:nvPr>
            <p:ph idx="1"/>
          </p:nvPr>
        </p:nvSpPr>
        <p:spPr/>
        <p:txBody>
          <a:bodyPr/>
          <a:lstStyle/>
          <a:p>
            <a:r>
              <a:rPr lang="en-US" b="1" dirty="0">
                <a:effectLst/>
              </a:rPr>
              <a:t>Storage </a:t>
            </a:r>
            <a:r>
              <a:rPr lang="en-US" b="1" dirty="0" smtClean="0">
                <a:effectLst/>
              </a:rPr>
              <a:t>Memory</a:t>
            </a:r>
          </a:p>
          <a:p>
            <a:pPr lvl="1"/>
            <a:r>
              <a:rPr lang="en-US" dirty="0">
                <a:effectLst/>
              </a:rPr>
              <a:t>Storage memory is used for storing all of the cached data, broadcast variables are also stored here. </a:t>
            </a:r>
            <a:endParaRPr lang="en-US" dirty="0" smtClean="0">
              <a:effectLst/>
            </a:endParaRPr>
          </a:p>
          <a:p>
            <a:pPr lvl="1"/>
            <a:r>
              <a:rPr lang="en-US" dirty="0" smtClean="0">
                <a:effectLst/>
              </a:rPr>
              <a:t>Any </a:t>
            </a:r>
            <a:r>
              <a:rPr lang="en-US" dirty="0">
                <a:effectLst/>
              </a:rPr>
              <a:t>persist option which includes MEMORY in it, spark will store that data in this segment</a:t>
            </a:r>
            <a:r>
              <a:rPr lang="en-US" dirty="0" smtClean="0">
                <a:effectLst/>
              </a:rPr>
              <a:t>.</a:t>
            </a:r>
          </a:p>
          <a:p>
            <a:pPr lvl="1"/>
            <a:r>
              <a:rPr lang="en-US" dirty="0">
                <a:effectLst/>
              </a:rPr>
              <a:t>park clears space for new cache requests by removing old cached objects based on Least Recently Used (LRU) mechanism. </a:t>
            </a:r>
            <a:endParaRPr lang="en-US" dirty="0" smtClean="0">
              <a:effectLst/>
            </a:endParaRPr>
          </a:p>
          <a:p>
            <a:pPr lvl="1"/>
            <a:r>
              <a:rPr lang="en-US" dirty="0" smtClean="0">
                <a:effectLst/>
              </a:rPr>
              <a:t>Once </a:t>
            </a:r>
            <a:r>
              <a:rPr lang="en-US" dirty="0">
                <a:effectLst/>
              </a:rPr>
              <a:t>the cached data it is out of storage, it is either written to disk or recomputed based on configuration. </a:t>
            </a:r>
            <a:endParaRPr lang="en-US" dirty="0" smtClean="0">
              <a:effectLst/>
            </a:endParaRPr>
          </a:p>
          <a:p>
            <a:pPr lvl="1"/>
            <a:r>
              <a:rPr lang="en-US" dirty="0">
                <a:effectLst/>
              </a:rPr>
              <a:t>Broadcast variables are stored in this segment with MEMORY_AND_DISK persistent level</a:t>
            </a:r>
            <a:r>
              <a:rPr lang="en-US" dirty="0" smtClean="0">
                <a:effectLst/>
              </a:rPr>
              <a:t>.</a:t>
            </a:r>
          </a:p>
          <a:p>
            <a:pPr lvl="1"/>
            <a:r>
              <a:rPr lang="en-US" i="1" dirty="0">
                <a:effectLst/>
              </a:rPr>
              <a:t>Formula</a:t>
            </a:r>
            <a:r>
              <a:rPr lang="en-US" dirty="0">
                <a:effectLst/>
              </a:rPr>
              <a:t>: </a:t>
            </a:r>
            <a:r>
              <a:rPr lang="en-US" b="1" dirty="0">
                <a:effectLst/>
              </a:rPr>
              <a:t>Storage Memory = (Java Heap — Reserved Memory) * </a:t>
            </a:r>
            <a:r>
              <a:rPr lang="en-US" b="1" dirty="0" err="1">
                <a:effectLst/>
              </a:rPr>
              <a:t>spark.memory.fraction</a:t>
            </a:r>
            <a:r>
              <a:rPr lang="en-US" b="1" dirty="0">
                <a:effectLst/>
              </a:rPr>
              <a:t> * </a:t>
            </a:r>
            <a:r>
              <a:rPr lang="en-US" b="1" dirty="0" err="1">
                <a:effectLst/>
              </a:rPr>
              <a:t>spark.memory.storageFraction</a:t>
            </a:r>
            <a:endParaRPr lang="en-US" dirty="0"/>
          </a:p>
        </p:txBody>
      </p:sp>
    </p:spTree>
    <p:extLst>
      <p:ext uri="{BB962C8B-B14F-4D97-AF65-F5344CB8AC3E}">
        <p14:creationId xmlns:p14="http://schemas.microsoft.com/office/powerpoint/2010/main" val="3899023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Executor memory breakdown</a:t>
            </a:r>
            <a:endParaRPr lang="en-US" dirty="0"/>
          </a:p>
        </p:txBody>
      </p:sp>
      <p:sp>
        <p:nvSpPr>
          <p:cNvPr id="3" name="Content Placeholder 2"/>
          <p:cNvSpPr>
            <a:spLocks noGrp="1"/>
          </p:cNvSpPr>
          <p:nvPr>
            <p:ph idx="1"/>
          </p:nvPr>
        </p:nvSpPr>
        <p:spPr/>
        <p:txBody>
          <a:bodyPr/>
          <a:lstStyle/>
          <a:p>
            <a:r>
              <a:rPr lang="en-US" b="1" dirty="0">
                <a:effectLst/>
              </a:rPr>
              <a:t>Execution </a:t>
            </a:r>
            <a:r>
              <a:rPr lang="en-US" b="1" dirty="0" smtClean="0">
                <a:effectLst/>
              </a:rPr>
              <a:t>Memory</a:t>
            </a:r>
          </a:p>
          <a:p>
            <a:pPr lvl="1"/>
            <a:r>
              <a:rPr lang="en-US" dirty="0">
                <a:effectLst/>
              </a:rPr>
              <a:t>This memory region is used by Spark for objects created during execution of a task. </a:t>
            </a:r>
            <a:endParaRPr lang="en-US" dirty="0" smtClean="0">
              <a:effectLst/>
            </a:endParaRPr>
          </a:p>
          <a:p>
            <a:pPr lvl="1"/>
            <a:r>
              <a:rPr lang="en-US" dirty="0" smtClean="0">
                <a:effectLst/>
              </a:rPr>
              <a:t>For </a:t>
            </a:r>
            <a:r>
              <a:rPr lang="en-US" dirty="0" err="1">
                <a:effectLst/>
              </a:rPr>
              <a:t>example,it</a:t>
            </a:r>
            <a:r>
              <a:rPr lang="en-US" dirty="0">
                <a:effectLst/>
              </a:rPr>
              <a:t> is used to store hash table for hash aggregation step, it is used to store shuffle intermediate buffer on the Map side in memory </a:t>
            </a:r>
            <a:r>
              <a:rPr lang="en-US" dirty="0" err="1">
                <a:effectLst/>
              </a:rPr>
              <a:t>etc</a:t>
            </a:r>
            <a:r>
              <a:rPr lang="en-US" dirty="0" smtClean="0">
                <a:effectLst/>
              </a:rPr>
              <a:t>,.</a:t>
            </a:r>
          </a:p>
          <a:p>
            <a:pPr lvl="1"/>
            <a:r>
              <a:rPr lang="en-US" dirty="0">
                <a:effectLst/>
              </a:rPr>
              <a:t>This pool also supports spilling on disk if not enough memory is available, but the blocks from this pool cannot be forcefully evicted by other tasks</a:t>
            </a:r>
            <a:r>
              <a:rPr lang="en-US" dirty="0" smtClean="0">
                <a:effectLst/>
              </a:rPr>
              <a:t>.</a:t>
            </a:r>
          </a:p>
          <a:p>
            <a:pPr lvl="1"/>
            <a:r>
              <a:rPr lang="en-US" i="1" dirty="0">
                <a:effectLst/>
              </a:rPr>
              <a:t>Formula</a:t>
            </a:r>
            <a:r>
              <a:rPr lang="en-US" dirty="0">
                <a:effectLst/>
              </a:rPr>
              <a:t>: </a:t>
            </a:r>
            <a:r>
              <a:rPr lang="en-US" b="1" dirty="0">
                <a:effectLst/>
              </a:rPr>
              <a:t>Execution Memory = (Java Heap — Reserved Memory) * </a:t>
            </a:r>
            <a:r>
              <a:rPr lang="en-US" b="1" dirty="0" err="1">
                <a:effectLst/>
              </a:rPr>
              <a:t>spark.memory.fraction</a:t>
            </a:r>
            <a:r>
              <a:rPr lang="en-US" b="1" dirty="0">
                <a:effectLst/>
              </a:rPr>
              <a:t> * (1.0 — </a:t>
            </a:r>
            <a:r>
              <a:rPr lang="en-US" b="1" dirty="0" err="1">
                <a:effectLst/>
              </a:rPr>
              <a:t>spark.memory.storageFraction</a:t>
            </a:r>
            <a:r>
              <a:rPr lang="en-US" b="1" dirty="0">
                <a:effectLst/>
              </a:rPr>
              <a:t>)</a:t>
            </a:r>
            <a:endParaRPr lang="en-US" dirty="0"/>
          </a:p>
        </p:txBody>
      </p:sp>
    </p:spTree>
    <p:extLst>
      <p:ext uri="{BB962C8B-B14F-4D97-AF65-F5344CB8AC3E}">
        <p14:creationId xmlns:p14="http://schemas.microsoft.com/office/powerpoint/2010/main" val="180408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More to study </a:t>
            </a:r>
            <a:r>
              <a:rPr lang="en-US" dirty="0" smtClean="0"/>
              <a:t>in </a:t>
            </a:r>
            <a:r>
              <a:rPr lang="en-US" b="1" dirty="0">
                <a:effectLst/>
              </a:rPr>
              <a:t>Executor memory </a:t>
            </a:r>
            <a:r>
              <a:rPr lang="en-US" b="1" dirty="0" smtClean="0">
                <a:effectLst/>
              </a:rPr>
              <a:t>breakdown</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medium.com/analytics-vidhya/apache-spark-memory-management-49682ded3d42</a:t>
            </a:r>
            <a:endParaRPr lang="en-US" dirty="0" smtClean="0"/>
          </a:p>
          <a:p>
            <a:endParaRPr lang="en-US" dirty="0"/>
          </a:p>
        </p:txBody>
      </p:sp>
    </p:spTree>
    <p:extLst>
      <p:ext uri="{BB962C8B-B14F-4D97-AF65-F5344CB8AC3E}">
        <p14:creationId xmlns:p14="http://schemas.microsoft.com/office/powerpoint/2010/main" val="877552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Broadcast variables</a:t>
            </a:r>
          </a:p>
        </p:txBody>
      </p:sp>
      <p:sp>
        <p:nvSpPr>
          <p:cNvPr id="3" name="Content Placeholder 2"/>
          <p:cNvSpPr>
            <a:spLocks noGrp="1"/>
          </p:cNvSpPr>
          <p:nvPr>
            <p:ph idx="1"/>
          </p:nvPr>
        </p:nvSpPr>
        <p:spPr/>
        <p:txBody>
          <a:bodyPr/>
          <a:lstStyle/>
          <a:p>
            <a:r>
              <a:rPr lang="en-US" b="1" dirty="0">
                <a:effectLst/>
              </a:rPr>
              <a:t>Broadcast variables in Apache Spark</a:t>
            </a:r>
            <a:r>
              <a:rPr lang="en-US" dirty="0"/>
              <a:t> are </a:t>
            </a:r>
            <a:r>
              <a:rPr lang="en-US" dirty="0">
                <a:effectLst/>
              </a:rPr>
              <a:t>read-only shared variables</a:t>
            </a:r>
            <a:r>
              <a:rPr lang="en-US" dirty="0"/>
              <a:t> that are cached locally on each worker node (executor) in a cluster rather than being shipped repeatedly alongside individual </a:t>
            </a:r>
            <a:r>
              <a:rPr lang="en-US" dirty="0" smtClean="0"/>
              <a:t>tasks.</a:t>
            </a:r>
          </a:p>
          <a:p>
            <a:r>
              <a:rPr lang="en-US" dirty="0"/>
              <a:t>Normally, when a variable is used within a Spark </a:t>
            </a:r>
            <a:r>
              <a:rPr lang="en-US" dirty="0" smtClean="0"/>
              <a:t>transformation.</a:t>
            </a:r>
          </a:p>
          <a:p>
            <a:r>
              <a:rPr lang="en-US" dirty="0"/>
              <a:t>Spark serializes and sends a fresh copy of that data to every single task</a:t>
            </a:r>
            <a:r>
              <a:rPr lang="en-US" dirty="0" smtClean="0"/>
              <a:t>.</a:t>
            </a:r>
          </a:p>
          <a:p>
            <a:r>
              <a:rPr lang="en-US" dirty="0"/>
              <a:t>If you have 1,000 tasks running across 10 executors, the data is transferred over the network 1,000 times</a:t>
            </a:r>
            <a:r>
              <a:rPr lang="en-US" dirty="0" smtClean="0"/>
              <a:t>.</a:t>
            </a:r>
          </a:p>
          <a:p>
            <a:r>
              <a:rPr lang="en-US" dirty="0"/>
              <a:t>With a broadcast variable, Spark sends the data </a:t>
            </a:r>
            <a:r>
              <a:rPr lang="en-US" b="1" dirty="0">
                <a:effectLst/>
              </a:rPr>
              <a:t>only once per executor</a:t>
            </a:r>
            <a:r>
              <a:rPr lang="en-US" dirty="0"/>
              <a:t>, saving massive amounts of network bandwidth, reducing serialization time, and memory </a:t>
            </a:r>
            <a:r>
              <a:rPr lang="en-US" dirty="0" smtClean="0"/>
              <a:t>overhead.</a:t>
            </a:r>
            <a:endParaRPr lang="en-US" dirty="0"/>
          </a:p>
        </p:txBody>
      </p:sp>
    </p:spTree>
    <p:extLst>
      <p:ext uri="{BB962C8B-B14F-4D97-AF65-F5344CB8AC3E}">
        <p14:creationId xmlns:p14="http://schemas.microsoft.com/office/powerpoint/2010/main" val="1350691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Introduction to </a:t>
            </a:r>
            <a:r>
              <a:rPr lang="en-US" b="1" dirty="0" err="1">
                <a:effectLst/>
              </a:rPr>
              <a:t>MLlib</a:t>
            </a:r>
            <a:r>
              <a:rPr lang="en-US" b="1" dirty="0">
                <a:effectLst/>
              </a:rPr>
              <a:t> </a:t>
            </a:r>
            <a:endParaRPr lang="en-US" dirty="0"/>
          </a:p>
        </p:txBody>
      </p:sp>
      <p:sp>
        <p:nvSpPr>
          <p:cNvPr id="3" name="Content Placeholder 2"/>
          <p:cNvSpPr>
            <a:spLocks noGrp="1"/>
          </p:cNvSpPr>
          <p:nvPr>
            <p:ph idx="1"/>
          </p:nvPr>
        </p:nvSpPr>
        <p:spPr/>
        <p:txBody>
          <a:bodyPr/>
          <a:lstStyle/>
          <a:p>
            <a:r>
              <a:rPr lang="en-US" dirty="0" err="1">
                <a:effectLst/>
              </a:rPr>
              <a:t>MLlib</a:t>
            </a:r>
            <a:r>
              <a:rPr lang="en-US" dirty="0">
                <a:effectLst/>
              </a:rPr>
              <a:t> is a machine learning framework built on top of Apache Spark</a:t>
            </a:r>
            <a:r>
              <a:rPr lang="en-US" dirty="0" smtClean="0">
                <a:effectLst/>
              </a:rPr>
              <a:t>.</a:t>
            </a:r>
          </a:p>
          <a:p>
            <a:r>
              <a:rPr lang="en-US" dirty="0" smtClean="0">
                <a:effectLst/>
              </a:rPr>
              <a:t>It </a:t>
            </a:r>
            <a:r>
              <a:rPr lang="en-US" dirty="0">
                <a:effectLst/>
              </a:rPr>
              <a:t>is designed to make machine learning tasks faster and more efficient</a:t>
            </a:r>
            <a:r>
              <a:rPr lang="en-US" dirty="0" smtClean="0">
                <a:effectLst/>
              </a:rPr>
              <a:t>.</a:t>
            </a:r>
          </a:p>
          <a:p>
            <a:r>
              <a:rPr lang="en-US" dirty="0" err="1" smtClean="0">
                <a:effectLst/>
              </a:rPr>
              <a:t>MLlib</a:t>
            </a:r>
            <a:r>
              <a:rPr lang="en-US" dirty="0" smtClean="0">
                <a:effectLst/>
              </a:rPr>
              <a:t> </a:t>
            </a:r>
            <a:r>
              <a:rPr lang="en-US" dirty="0">
                <a:effectLst/>
              </a:rPr>
              <a:t>supports various ML algorithms and utilities.</a:t>
            </a:r>
            <a:endParaRPr lang="en-US" dirty="0"/>
          </a:p>
        </p:txBody>
      </p:sp>
    </p:spTree>
    <p:extLst>
      <p:ext uri="{BB962C8B-B14F-4D97-AF65-F5344CB8AC3E}">
        <p14:creationId xmlns:p14="http://schemas.microsoft.com/office/powerpoint/2010/main" val="2802280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Core Features of </a:t>
            </a:r>
            <a:r>
              <a:rPr lang="en-US" b="1" dirty="0" err="1" smtClean="0">
                <a:effectLst/>
              </a:rPr>
              <a:t>MLlib</a:t>
            </a:r>
            <a:endParaRPr lang="en-US" dirty="0"/>
          </a:p>
        </p:txBody>
      </p:sp>
      <p:sp>
        <p:nvSpPr>
          <p:cNvPr id="3" name="Content Placeholder 2"/>
          <p:cNvSpPr>
            <a:spLocks noGrp="1"/>
          </p:cNvSpPr>
          <p:nvPr>
            <p:ph idx="1"/>
          </p:nvPr>
        </p:nvSpPr>
        <p:spPr/>
        <p:txBody>
          <a:bodyPr/>
          <a:lstStyle/>
          <a:p>
            <a:r>
              <a:rPr lang="en-US" dirty="0" err="1">
                <a:effectLst/>
              </a:rPr>
              <a:t>MLlib</a:t>
            </a:r>
            <a:r>
              <a:rPr lang="en-US" dirty="0">
                <a:effectLst/>
              </a:rPr>
              <a:t> is a scalable, easy to use and comprehensive library</a:t>
            </a:r>
          </a:p>
          <a:p>
            <a:r>
              <a:rPr lang="en-US" dirty="0">
                <a:effectLst/>
              </a:rPr>
              <a:t>Algorithms like Classification, Regression, Clustering, Collaborative Filtering, </a:t>
            </a:r>
            <a:r>
              <a:rPr lang="en-US" dirty="0" err="1">
                <a:effectLst/>
              </a:rPr>
              <a:t>etc</a:t>
            </a:r>
            <a:r>
              <a:rPr lang="en-US" dirty="0">
                <a:effectLst/>
              </a:rPr>
              <a:t> can be implemented using it.</a:t>
            </a:r>
          </a:p>
          <a:p>
            <a:pPr lvl="0"/>
            <a:r>
              <a:rPr lang="en-US" altLang="en-US" dirty="0">
                <a:effectLst/>
              </a:rPr>
              <a:t>Similar to </a:t>
            </a:r>
            <a:r>
              <a:rPr lang="en-US" altLang="en-US" dirty="0" err="1">
                <a:effectLst/>
              </a:rPr>
              <a:t>scikit</a:t>
            </a:r>
            <a:r>
              <a:rPr lang="en-US" altLang="en-US" dirty="0">
                <a:effectLst/>
              </a:rPr>
              <a:t>-learn hence streamlines the process of building and tuning machine learning workflows.</a:t>
            </a:r>
          </a:p>
          <a:p>
            <a:r>
              <a:rPr lang="en-US" dirty="0">
                <a:effectLst/>
              </a:rPr>
              <a:t>Includes feature selection, extraction, scaling, etc.</a:t>
            </a:r>
          </a:p>
          <a:p>
            <a:endParaRPr lang="en-US" dirty="0">
              <a:effectLst/>
            </a:endParaRPr>
          </a:p>
        </p:txBody>
      </p:sp>
      <p:sp>
        <p:nvSpPr>
          <p:cNvPr id="6" name="Rectangle 3"/>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7771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Workflow of </a:t>
            </a:r>
            <a:r>
              <a:rPr lang="en-US" b="1" dirty="0" err="1">
                <a:effectLst/>
              </a:rPr>
              <a:t>MLlib</a:t>
            </a:r>
            <a:r>
              <a:rPr lang="en-US" b="1" dirty="0">
                <a:effectLst/>
              </a:rPr>
              <a:t> </a:t>
            </a:r>
            <a:r>
              <a:rPr lang="en-US" b="1" dirty="0" smtClean="0">
                <a:effectLst/>
              </a:rPr>
              <a:t>Models</a:t>
            </a:r>
            <a:endParaRPr lang="en-US" dirty="0"/>
          </a:p>
        </p:txBody>
      </p:sp>
      <p:pic>
        <p:nvPicPr>
          <p:cNvPr id="4" name="Content Placeholder 3"/>
          <p:cNvPicPr>
            <a:picLocks noGrp="1" noChangeAspect="1"/>
          </p:cNvPicPr>
          <p:nvPr>
            <p:ph idx="1"/>
          </p:nvPr>
        </p:nvPicPr>
        <p:blipFill>
          <a:blip r:embed="rId2"/>
          <a:stretch>
            <a:fillRect/>
          </a:stretch>
        </p:blipFill>
        <p:spPr>
          <a:xfrm>
            <a:off x="2319337" y="1966119"/>
            <a:ext cx="7543800" cy="3590925"/>
          </a:xfrm>
          <a:prstGeom prst="rect">
            <a:avLst/>
          </a:prstGeom>
        </p:spPr>
      </p:pic>
    </p:spTree>
    <p:extLst>
      <p:ext uri="{BB962C8B-B14F-4D97-AF65-F5344CB8AC3E}">
        <p14:creationId xmlns:p14="http://schemas.microsoft.com/office/powerpoint/2010/main" val="102411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Real-World Use </a:t>
            </a:r>
            <a:r>
              <a:rPr lang="en-US" b="1" dirty="0" smtClean="0">
                <a:effectLst/>
              </a:rPr>
              <a:t>Case</a:t>
            </a:r>
            <a:endParaRPr lang="en-US" dirty="0"/>
          </a:p>
        </p:txBody>
      </p:sp>
      <p:sp>
        <p:nvSpPr>
          <p:cNvPr id="3" name="Content Placeholder 2"/>
          <p:cNvSpPr>
            <a:spLocks noGrp="1"/>
          </p:cNvSpPr>
          <p:nvPr>
            <p:ph idx="1"/>
          </p:nvPr>
        </p:nvSpPr>
        <p:spPr/>
        <p:txBody>
          <a:bodyPr/>
          <a:lstStyle/>
          <a:p>
            <a:r>
              <a:rPr lang="en-US" b="1" dirty="0">
                <a:effectLst/>
              </a:rPr>
              <a:t>Predictive analytics of diseases based on patient </a:t>
            </a:r>
            <a:r>
              <a:rPr lang="en-US" b="1" dirty="0" smtClean="0">
                <a:effectLst/>
              </a:rPr>
              <a:t>data.</a:t>
            </a:r>
          </a:p>
          <a:p>
            <a:r>
              <a:rPr lang="en-US" b="1" dirty="0">
                <a:effectLst/>
              </a:rPr>
              <a:t>Spam detection and sentiment </a:t>
            </a:r>
            <a:r>
              <a:rPr lang="en-US" b="1" dirty="0" smtClean="0">
                <a:effectLst/>
              </a:rPr>
              <a:t>analysis.</a:t>
            </a:r>
          </a:p>
          <a:p>
            <a:r>
              <a:rPr lang="en-US" b="1" dirty="0">
                <a:effectLst/>
              </a:rPr>
              <a:t>Fraud detection in the finance </a:t>
            </a:r>
            <a:r>
              <a:rPr lang="en-US" b="1" dirty="0" smtClean="0">
                <a:effectLst/>
              </a:rPr>
              <a:t>sector.</a:t>
            </a:r>
          </a:p>
          <a:p>
            <a:r>
              <a:rPr lang="en-US" b="1" dirty="0">
                <a:effectLst/>
              </a:rPr>
              <a:t>Real-time product recommendation in </a:t>
            </a:r>
            <a:r>
              <a:rPr lang="en-US" b="1" dirty="0" smtClean="0">
                <a:effectLst/>
              </a:rPr>
              <a:t>e-commerce.</a:t>
            </a:r>
          </a:p>
          <a:p>
            <a:endParaRPr lang="en-US" dirty="0"/>
          </a:p>
        </p:txBody>
      </p:sp>
    </p:spTree>
    <p:extLst>
      <p:ext uri="{BB962C8B-B14F-4D97-AF65-F5344CB8AC3E}">
        <p14:creationId xmlns:p14="http://schemas.microsoft.com/office/powerpoint/2010/main" val="2264228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pipeline</a:t>
            </a:r>
          </a:p>
        </p:txBody>
      </p:sp>
      <p:sp>
        <p:nvSpPr>
          <p:cNvPr id="3" name="Content Placeholder 2"/>
          <p:cNvSpPr>
            <a:spLocks noGrp="1"/>
          </p:cNvSpPr>
          <p:nvPr>
            <p:ph idx="1"/>
          </p:nvPr>
        </p:nvSpPr>
        <p:spPr/>
        <p:txBody>
          <a:bodyPr/>
          <a:lstStyle/>
          <a:p>
            <a:r>
              <a:rPr lang="en-US" dirty="0">
                <a:effectLst/>
              </a:rPr>
              <a:t>In Apache Spark, </a:t>
            </a:r>
            <a:r>
              <a:rPr lang="en-US" dirty="0"/>
              <a:t>a </a:t>
            </a:r>
            <a:r>
              <a:rPr lang="en-US" dirty="0">
                <a:effectLst/>
              </a:rPr>
              <a:t>data pipeline</a:t>
            </a:r>
            <a:r>
              <a:rPr lang="en-US" dirty="0"/>
              <a:t> follows the classic </a:t>
            </a:r>
            <a:r>
              <a:rPr lang="en-US" dirty="0">
                <a:effectLst/>
              </a:rPr>
              <a:t>ETL (Extract, Transform, Load)</a:t>
            </a:r>
            <a:r>
              <a:rPr lang="en-US" dirty="0"/>
              <a:t> architecture</a:t>
            </a:r>
            <a:r>
              <a:rPr lang="en-US" dirty="0" smtClean="0"/>
              <a:t>.</a:t>
            </a:r>
          </a:p>
          <a:p>
            <a:r>
              <a:rPr lang="en-US" dirty="0" smtClean="0"/>
              <a:t>Spark </a:t>
            </a:r>
            <a:r>
              <a:rPr lang="en-US" dirty="0"/>
              <a:t>is designed to distribute these operations across a cluster to handle large-scale data </a:t>
            </a:r>
            <a:r>
              <a:rPr lang="en-US" dirty="0" smtClean="0"/>
              <a:t>seamlessly.</a:t>
            </a:r>
          </a:p>
          <a:p>
            <a:r>
              <a:rPr lang="en-US" b="1" dirty="0" smtClean="0"/>
              <a:t>The 3 Core Stages of a Spark Pipeline:</a:t>
            </a:r>
          </a:p>
          <a:p>
            <a:pPr lvl="1"/>
            <a:r>
              <a:rPr lang="en-US" dirty="0"/>
              <a:t>Extract (Ingestion</a:t>
            </a:r>
            <a:r>
              <a:rPr lang="en-US" dirty="0" smtClean="0"/>
              <a:t>)</a:t>
            </a:r>
          </a:p>
          <a:p>
            <a:pPr lvl="1"/>
            <a:r>
              <a:rPr lang="en-US" dirty="0"/>
              <a:t>Transform (Processing</a:t>
            </a:r>
            <a:r>
              <a:rPr lang="en-US" dirty="0" smtClean="0"/>
              <a:t>)</a:t>
            </a:r>
          </a:p>
          <a:p>
            <a:pPr lvl="1"/>
            <a:r>
              <a:rPr lang="en-US" dirty="0"/>
              <a:t>Load (Storage)</a:t>
            </a:r>
            <a:endParaRPr lang="en-US" b="1" dirty="0"/>
          </a:p>
        </p:txBody>
      </p:sp>
    </p:spTree>
    <p:extLst>
      <p:ext uri="{BB962C8B-B14F-4D97-AF65-F5344CB8AC3E}">
        <p14:creationId xmlns:p14="http://schemas.microsoft.com/office/powerpoint/2010/main" val="4268440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Integration with external systems</a:t>
            </a:r>
          </a:p>
        </p:txBody>
      </p:sp>
      <p:sp>
        <p:nvSpPr>
          <p:cNvPr id="3" name="Content Placeholder 2"/>
          <p:cNvSpPr>
            <a:spLocks noGrp="1"/>
          </p:cNvSpPr>
          <p:nvPr>
            <p:ph idx="1"/>
          </p:nvPr>
        </p:nvSpPr>
        <p:spPr/>
        <p:txBody>
          <a:bodyPr/>
          <a:lstStyle/>
          <a:p>
            <a:r>
              <a:rPr lang="en-US" dirty="0">
                <a:effectLst/>
              </a:rPr>
              <a:t>Apache Spark integrates with external systems like databases, cloud storage, and messaging queues using built-in or custom connectors via the Spark Data Source </a:t>
            </a:r>
            <a:r>
              <a:rPr lang="en-US" dirty="0" smtClean="0">
                <a:effectLst/>
              </a:rPr>
              <a:t>API.</a:t>
            </a:r>
          </a:p>
          <a:p>
            <a:r>
              <a:rPr lang="en-US" dirty="0" smtClean="0"/>
              <a:t>Common </a:t>
            </a:r>
            <a:r>
              <a:rPr lang="en-US" dirty="0"/>
              <a:t>External </a:t>
            </a:r>
            <a:r>
              <a:rPr lang="en-US" dirty="0" smtClean="0"/>
              <a:t>Systems</a:t>
            </a:r>
          </a:p>
          <a:p>
            <a:pPr lvl="1"/>
            <a:r>
              <a:rPr lang="en-US" dirty="0"/>
              <a:t>Relational Databases (RDBMS</a:t>
            </a:r>
            <a:r>
              <a:rPr lang="en-US" dirty="0" smtClean="0"/>
              <a:t>)</a:t>
            </a:r>
          </a:p>
          <a:p>
            <a:pPr lvl="1"/>
            <a:r>
              <a:rPr lang="en-US" dirty="0"/>
              <a:t>Cloud Object </a:t>
            </a:r>
            <a:r>
              <a:rPr lang="en-US" dirty="0" smtClean="0"/>
              <a:t>Storage</a:t>
            </a:r>
          </a:p>
          <a:p>
            <a:pPr lvl="1"/>
            <a:r>
              <a:rPr lang="en-US" dirty="0"/>
              <a:t>NoSQL &amp; </a:t>
            </a:r>
            <a:r>
              <a:rPr lang="en-US" dirty="0" smtClean="0"/>
              <a:t>Warehouses</a:t>
            </a:r>
          </a:p>
          <a:p>
            <a:pPr lvl="1"/>
            <a:r>
              <a:rPr lang="en-US" dirty="0"/>
              <a:t>Streaming Platforms</a:t>
            </a:r>
          </a:p>
        </p:txBody>
      </p:sp>
    </p:spTree>
    <p:extLst>
      <p:ext uri="{BB962C8B-B14F-4D97-AF65-F5344CB8AC3E}">
        <p14:creationId xmlns:p14="http://schemas.microsoft.com/office/powerpoint/2010/main" val="2139411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Integration Works</a:t>
            </a:r>
          </a:p>
        </p:txBody>
      </p:sp>
      <p:sp>
        <p:nvSpPr>
          <p:cNvPr id="3" name="Content Placeholder 2"/>
          <p:cNvSpPr>
            <a:spLocks noGrp="1"/>
          </p:cNvSpPr>
          <p:nvPr>
            <p:ph idx="1"/>
          </p:nvPr>
        </p:nvSpPr>
        <p:spPr/>
        <p:txBody>
          <a:bodyPr/>
          <a:lstStyle/>
          <a:p>
            <a:r>
              <a:rPr lang="en-US" dirty="0"/>
              <a:t>Data Source </a:t>
            </a:r>
            <a:r>
              <a:rPr lang="en-US" dirty="0" smtClean="0"/>
              <a:t>API</a:t>
            </a:r>
          </a:p>
          <a:p>
            <a:r>
              <a:rPr lang="en-US" dirty="0"/>
              <a:t>Connectors &amp; </a:t>
            </a:r>
            <a:r>
              <a:rPr lang="en-US" dirty="0" smtClean="0"/>
              <a:t>Drivers</a:t>
            </a:r>
          </a:p>
          <a:p>
            <a:r>
              <a:rPr lang="en-US" dirty="0"/>
              <a:t>Query Pushdown</a:t>
            </a:r>
          </a:p>
        </p:txBody>
      </p:sp>
    </p:spTree>
    <p:extLst>
      <p:ext uri="{BB962C8B-B14F-4D97-AF65-F5344CB8AC3E}">
        <p14:creationId xmlns:p14="http://schemas.microsoft.com/office/powerpoint/2010/main" val="26448098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119</TotalTime>
  <Words>1470</Words>
  <Application>Microsoft Office PowerPoint</Application>
  <PresentationFormat>Widescreen</PresentationFormat>
  <Paragraphs>128</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Calisto MT</vt:lpstr>
      <vt:lpstr>Courier New</vt:lpstr>
      <vt:lpstr>Google Sans</vt:lpstr>
      <vt:lpstr>Times New Roman</vt:lpstr>
      <vt:lpstr>Trebuchet MS</vt:lpstr>
      <vt:lpstr>Wingdings 2</vt:lpstr>
      <vt:lpstr>Slate</vt:lpstr>
      <vt:lpstr>Performance Optimization Techniques for System Design</vt:lpstr>
      <vt:lpstr>Performance Optimization</vt:lpstr>
      <vt:lpstr>Example </vt:lpstr>
      <vt:lpstr>Performance Optimization Techniques for System Design</vt:lpstr>
      <vt:lpstr>Partitioning strategies in spark</vt:lpstr>
      <vt:lpstr>Core Memory Partitioning Strategies</vt:lpstr>
      <vt:lpstr>In-Memory Transformation Methods</vt:lpstr>
      <vt:lpstr>Caching and Persistence in spark</vt:lpstr>
      <vt:lpstr>The Difference Between cache() and persist() </vt:lpstr>
      <vt:lpstr>Spark Storage Levels</vt:lpstr>
      <vt:lpstr>Shuffle operations in spark</vt:lpstr>
      <vt:lpstr>How Spark Architecture Shuffle Works</vt:lpstr>
      <vt:lpstr>More to study in shuffle operations </vt:lpstr>
      <vt:lpstr>Causes</vt:lpstr>
      <vt:lpstr>Memory management in spark</vt:lpstr>
      <vt:lpstr>PowerPoint Presentation</vt:lpstr>
      <vt:lpstr>Executor memory breakdown</vt:lpstr>
      <vt:lpstr>Executor memory breakdown</vt:lpstr>
      <vt:lpstr>Executor memory breakdown</vt:lpstr>
      <vt:lpstr>Executor memory breakdown</vt:lpstr>
      <vt:lpstr>Executor memory breakdown</vt:lpstr>
      <vt:lpstr>More to study in Executor memory breakdown</vt:lpstr>
      <vt:lpstr>Broadcast variables</vt:lpstr>
      <vt:lpstr>Introduction to MLlib </vt:lpstr>
      <vt:lpstr>Core Features of MLlib</vt:lpstr>
      <vt:lpstr>Workflow of MLlib Models</vt:lpstr>
      <vt:lpstr>Real-World Use Case</vt:lpstr>
      <vt:lpstr>Basic pipeline</vt:lpstr>
      <vt:lpstr>Integration with external systems</vt:lpstr>
      <vt:lpstr>How Integration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Optimization Techniques for System Design</dc:title>
  <dc:creator>kes</dc:creator>
  <cp:lastModifiedBy>Windows User</cp:lastModifiedBy>
  <cp:revision>69</cp:revision>
  <dcterms:created xsi:type="dcterms:W3CDTF">2026-09-19T07:20:13Z</dcterms:created>
  <dcterms:modified xsi:type="dcterms:W3CDTF">2026-09-25T14:06:30Z</dcterms:modified>
</cp:coreProperties>
</file>